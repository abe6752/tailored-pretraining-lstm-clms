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945" y="1939443"/>
            <a:ext cx="7614679" cy="707886"/>
          </a:xfrm>
        </p:spPr>
        <p:txBody>
          <a:bodyPr anchor="t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158" y="4097189"/>
            <a:ext cx="5689601" cy="507831"/>
          </a:xfrm>
        </p:spPr>
        <p:txBody>
          <a:bodyPr>
            <a:spAutoFit/>
          </a:bodyPr>
          <a:lstStyle>
            <a:lvl1pPr marL="0" indent="0">
              <a:buNone/>
              <a:defRPr sz="30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77614" y="6079526"/>
            <a:ext cx="3836773" cy="43660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endParaRPr lang="en-US" dirty="0"/>
          </a:p>
        </p:txBody>
      </p:sp>
      <p:cxnSp>
        <p:nvCxnSpPr>
          <p:cNvPr id="7" name="直線コネクタ 6"/>
          <p:cNvCxnSpPr/>
          <p:nvPr/>
        </p:nvCxnSpPr>
        <p:spPr>
          <a:xfrm>
            <a:off x="2603158" y="4003589"/>
            <a:ext cx="7765535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カギ線コネクタ 7"/>
          <p:cNvCxnSpPr/>
          <p:nvPr/>
        </p:nvCxnSpPr>
        <p:spPr>
          <a:xfrm flipV="1">
            <a:off x="1359073" y="1853512"/>
            <a:ext cx="9009619" cy="793816"/>
          </a:xfrm>
          <a:prstGeom prst="bentConnector3">
            <a:avLst>
              <a:gd name="adj1" fmla="val 138"/>
            </a:avLst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>
            <a:off x="0" y="1095632"/>
            <a:ext cx="12192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68AF5FE-0271-AE49-AC9F-A653ABFA2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789" y="5236612"/>
            <a:ext cx="909768" cy="127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16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smtClean="0"/>
              <a:t>5/31/24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51B2CED-9EC9-4669-84D3-365F49CBEEFC}"/>
              </a:ext>
            </a:extLst>
          </p:cNvPr>
          <p:cNvSpPr/>
          <p:nvPr/>
        </p:nvSpPr>
        <p:spPr>
          <a:xfrm>
            <a:off x="1" y="1"/>
            <a:ext cx="329513" cy="873369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84443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78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367482"/>
            <a:ext cx="10363200" cy="1211606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83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9513" y="198639"/>
            <a:ext cx="10313768" cy="567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9513" y="116778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0007" y="58815"/>
            <a:ext cx="756164" cy="423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直線コネクタ 9"/>
          <p:cNvCxnSpPr/>
          <p:nvPr/>
        </p:nvCxnSpPr>
        <p:spPr>
          <a:xfrm flipV="1">
            <a:off x="11123139" y="212509"/>
            <a:ext cx="882136" cy="5085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11489037" y="407465"/>
            <a:ext cx="702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15</a:t>
            </a:r>
            <a:endParaRPr kumimoji="1" lang="ja-JP" altLang="en-US" sz="240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AC89276-2F06-4FB5-93B6-4F8071C15C72}"/>
              </a:ext>
            </a:extLst>
          </p:cNvPr>
          <p:cNvCxnSpPr/>
          <p:nvPr/>
        </p:nvCxnSpPr>
        <p:spPr>
          <a:xfrm>
            <a:off x="0" y="869129"/>
            <a:ext cx="12192000" cy="0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08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kern="1200" baseline="0">
          <a:solidFill>
            <a:schemeClr val="bg2">
              <a:lumMod val="25000"/>
            </a:schemeClr>
          </a:solidFill>
          <a:latin typeface="Segoe UI Historic" panose="020B0502040204020203" pitchFamily="34" charset="0"/>
          <a:ea typeface="游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2800" kern="1200" baseline="0">
          <a:solidFill>
            <a:schemeClr val="bg2">
              <a:lumMod val="25000"/>
            </a:schemeClr>
          </a:solidFill>
          <a:latin typeface="Segoe UI Light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400" kern="1200" baseline="0">
          <a:solidFill>
            <a:schemeClr val="bg2">
              <a:lumMod val="25000"/>
            </a:schemeClr>
          </a:solidFill>
          <a:latin typeface="Segoe UI Light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000" kern="1200" baseline="0">
          <a:solidFill>
            <a:schemeClr val="bg2">
              <a:lumMod val="25000"/>
            </a:schemeClr>
          </a:solidFill>
          <a:latin typeface="Segoe UI Light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 baseline="0">
          <a:solidFill>
            <a:schemeClr val="bg2">
              <a:lumMod val="25000"/>
            </a:schemeClr>
          </a:solidFill>
          <a:latin typeface="Segoe UI Light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 baseline="0">
          <a:solidFill>
            <a:schemeClr val="bg2">
              <a:lumMod val="25000"/>
            </a:schemeClr>
          </a:solidFill>
          <a:latin typeface="Segoe UI Light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45CA68-074B-A6D6-991A-56F700F2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945" y="1939443"/>
            <a:ext cx="9105441" cy="1323439"/>
          </a:xfrm>
        </p:spPr>
        <p:txBody>
          <a:bodyPr/>
          <a:lstStyle/>
          <a:p>
            <a:r>
              <a:rPr lang="en-US" altLang="ja-JP" dirty="0"/>
              <a:t>LSTM Reproducibility of Multimodal Distribution</a:t>
            </a:r>
            <a:endParaRPr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1CE63F-1543-E197-D9A6-5FA1B08FE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3158" y="4097189"/>
            <a:ext cx="5689601" cy="1143903"/>
          </a:xfrm>
        </p:spPr>
        <p:txBody>
          <a:bodyPr/>
          <a:lstStyle/>
          <a:p>
            <a:r>
              <a:rPr lang="en-US" altLang="ja-JP" dirty="0"/>
              <a:t>2024. 05. 31 </a:t>
            </a:r>
          </a:p>
          <a:p>
            <a:r>
              <a:rPr lang="en-US" altLang="ja-JP" dirty="0"/>
              <a:t>T. Miyao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68171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88B4A-96D0-96C7-5081-A1EE8F24A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Issues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A534C-7B6B-E271-30AB-1C3A199E5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LSTM or chemical language models are good to reproduce the distributions of the chemical compounds used for its training.</a:t>
            </a:r>
          </a:p>
          <a:p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Are LSTM</a:t>
            </a:r>
            <a:r>
              <a:rPr lang="en-US" altLang="ja-JP" dirty="0"/>
              <a:t> models able to reproduce multimodal distribution of chemical space?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97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A3618-6CB7-A095-639F-37813EBAE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Approaches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28B5B-5AFF-1DA1-662B-FCADDF9AB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512" y="1167780"/>
            <a:ext cx="11862487" cy="309941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ja-JP" dirty="0"/>
              <a:t>Sampling training compounds which are extracted from distribution of two modes.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ja-JP" dirty="0"/>
              <a:t>4 </a:t>
            </a:r>
            <a:r>
              <a:rPr lang="en-US" altLang="ja-JP" dirty="0"/>
              <a:t>properties: MW, TPSA, Ring count, QED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modes (means) : 10 percentile, 95 percentile, std: </a:t>
            </a:r>
            <a:r>
              <a:rPr lang="en-US" altLang="ja-JP" u="sng" dirty="0"/>
              <a:t>sample std * 0.1</a:t>
            </a:r>
            <a:r>
              <a:rPr lang="en-US" altLang="ja-JP" dirty="0"/>
              <a:t> (narrow peaks)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Distributions: Gaussian (mixture of Gaussians). Pseudo MCMC sampling (uniform distribution is assumed)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# sample CPDs (SMILES): 10</a:t>
            </a:r>
            <a:r>
              <a:rPr lang="en-US" altLang="ja-JP" baseline="30000" dirty="0"/>
              <a:t>5</a:t>
            </a:r>
          </a:p>
        </p:txBody>
      </p:sp>
      <p:pic>
        <p:nvPicPr>
          <p:cNvPr id="5" name="Picture 4" descr="A graph of a bar graph&#10;&#10;Description automatically generated with medium confidence">
            <a:extLst>
              <a:ext uri="{FF2B5EF4-FFF2-40B4-BE49-F238E27FC236}">
                <a16:creationId xmlns:a16="http://schemas.microsoft.com/office/drawing/2014/main" id="{859C63E5-607A-8B8E-E417-08FF2B547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75" y="4238726"/>
            <a:ext cx="3404476" cy="2405336"/>
          </a:xfrm>
          <a:prstGeom prst="rect">
            <a:avLst/>
          </a:prstGeom>
        </p:spPr>
      </p:pic>
      <p:pic>
        <p:nvPicPr>
          <p:cNvPr id="7" name="Picture 6" descr="A graph of blue bars&#10;&#10;Description automatically generated with medium confidence">
            <a:extLst>
              <a:ext uri="{FF2B5EF4-FFF2-40B4-BE49-F238E27FC236}">
                <a16:creationId xmlns:a16="http://schemas.microsoft.com/office/drawing/2014/main" id="{4ED8B07D-3887-6C7A-620B-E41758584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563" y="4212000"/>
            <a:ext cx="3404477" cy="245878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279247-2D7D-E6AE-3C65-4D678C2056D4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014951" y="5441394"/>
            <a:ext cx="1385612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422E6BE-1D9C-3B65-811B-7FF7D85BD5F1}"/>
              </a:ext>
            </a:extLst>
          </p:cNvPr>
          <p:cNvSpPr txBox="1"/>
          <p:nvPr/>
        </p:nvSpPr>
        <p:spPr>
          <a:xfrm>
            <a:off x="252248" y="3668394"/>
            <a:ext cx="1573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Example </a:t>
            </a:r>
            <a:r>
              <a:rPr lang="en-US" altLang="ja-JP" dirty="0"/>
              <a:t>(</a:t>
            </a:r>
            <a:r>
              <a:rPr kumimoji="1" lang="en-US" altLang="ja-JP" dirty="0"/>
              <a:t>MW)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766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5FD3-C73A-83D5-01CC-1A32565C9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LSTM experience 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30E6F-9D26-1C26-4938-479E98F0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training/validation: 0.95: 0.05 </a:t>
            </a:r>
          </a:p>
          <a:p>
            <a:r>
              <a:rPr lang="en-US" altLang="ja-JP" dirty="0"/>
              <a:t>Early stopping:  patience: 10 epochs.</a:t>
            </a:r>
          </a:p>
          <a:p>
            <a:r>
              <a:rPr kumimoji="1" lang="en-US" altLang="ja-JP" dirty="0"/>
              <a:t>Total epochs: </a:t>
            </a:r>
            <a:r>
              <a:rPr lang="en-US" altLang="ja-JP" dirty="0"/>
              <a:t>50 epochs</a:t>
            </a:r>
          </a:p>
          <a:p>
            <a:r>
              <a:rPr kumimoji="1" lang="en-US" altLang="ja-JP" dirty="0"/>
              <a:t>LSTM structure</a:t>
            </a:r>
            <a:r>
              <a:rPr lang="en-US" altLang="ja-JP" dirty="0"/>
              <a:t>s: 3 layers, 256 hidden size, </a:t>
            </a:r>
            <a:r>
              <a:rPr lang="en-US" altLang="ja-JP"/>
              <a:t>256 embedding.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7695590"/>
      </p:ext>
    </p:extLst>
  </p:cSld>
  <p:clrMapOvr>
    <a:masterClrMapping/>
  </p:clrMapOvr>
</p:sld>
</file>

<file path=ppt/theme/theme1.xml><?xml version="1.0" encoding="utf-8"?>
<a:theme xmlns:a="http://schemas.openxmlformats.org/drawingml/2006/main" name="dd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d" id="{8AB83E87-0015-B940-91D3-6B02193EDEB2}" vid="{263962CA-574B-C14E-984C-0D4A3F16CB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dd</Template>
  <TotalTime>17</TotalTime>
  <Words>154</Words>
  <Application>Microsoft Macintosh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Segoe UI Historic</vt:lpstr>
      <vt:lpstr>Segoe UI Light</vt:lpstr>
      <vt:lpstr>dd</vt:lpstr>
      <vt:lpstr>LSTM Reproducibility of Multimodal Distribution</vt:lpstr>
      <vt:lpstr>Issues</vt:lpstr>
      <vt:lpstr>Approaches</vt:lpstr>
      <vt:lpstr>LSTM experience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Miyao Tomoyuki</dc:creator>
  <cp:lastModifiedBy>Miyao Tomoyuki</cp:lastModifiedBy>
  <cp:revision>34</cp:revision>
  <dcterms:created xsi:type="dcterms:W3CDTF">2024-05-31T11:00:19Z</dcterms:created>
  <dcterms:modified xsi:type="dcterms:W3CDTF">2024-05-31T11:17:39Z</dcterms:modified>
</cp:coreProperties>
</file>